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5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63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2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0" y="1371600"/>
            <a:ext cx="1371600" cy="2468880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14A8BD"/>
                </a:solidFill>
              </a:rPr>
              <a:t>KOSPI200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</a:rPr>
              <a:t>옵션 분석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B429"/>
                </a:solidFill>
              </a:rPr>
              <a:t>KOSPI200 Options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572000" cy="0"/>
          </a:xfrm>
          <a:prstGeom prst="line">
            <a:avLst/>
          </a:prstGeom>
          <a:noFill/>
          <a:ln w="19050">
            <a:solidFill>
              <a:srgbClr val="0F7B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</a:rPr>
              <a:t>파생상품 실습과제 Project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20225085 경제학부 김수린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목 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02920" cy="47548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16128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</a:rPr>
              <a:t>원자료 정리와 근월물(Near-Month) 데이터셋 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116128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Part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502920" cy="47548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1691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</a:rPr>
              <a:t>특정 거래일의 옵션 체인(Option Chain)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0" y="17099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Part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8595360" cy="47548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502920" cy="47548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4320" y="22402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25856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</a:rPr>
              <a:t>고정 Moneyness 시계열 구축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225856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Part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502920" cy="47548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74320" y="27889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80720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</a:rPr>
              <a:t>시계열 그래프 작성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0" y="28072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Part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8595360" cy="47548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502920" cy="47548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74320" y="33375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35584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</a:rPr>
              <a:t>기초 통계량 산출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335584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Part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886200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74320" y="3886200"/>
            <a:ext cx="502920" cy="47548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74320" y="38862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390448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</a:rPr>
              <a:t>추가 분석 (Put-Call Parity &amp; Volatility Skew)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3840" y="390448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Part 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74320" y="4434840"/>
            <a:ext cx="502920" cy="47548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74320" y="44348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445312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</a:rPr>
              <a:t>금리와 옵션가격을 이용한 내재변동성(IV) 직접 계산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0" y="44531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Part 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1. 원자료 정리 — 데이터 수집 및 구성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1997.01 ~ 2025.12 KOSPI200 옵션·현물·무위험이자율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474720"/>
          </a:xfrm>
          <a:prstGeom prst="rect">
            <a:avLst/>
          </a:prstGeom>
          <a:solidFill>
            <a:srgbClr val="0F7B8C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54864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B8C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B8C"/>
                </a:solidFill>
              </a:rPr>
              <a:t>옵션 데이터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E8EF"/>
                </a:solidFill>
              </a:rPr>
              <a:t>KRX 정보데이터시스템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CE8EF"/>
                </a:solidFill>
              </a:rPr>
              <a:t>(파생상품 &gt; 종목시세)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1997~2025 (29개년)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2년 단위 분할 다운로드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야간 데이터 제외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743200" cy="3474720"/>
          </a:xfrm>
          <a:prstGeom prst="rect">
            <a:avLst/>
          </a:prstGeom>
          <a:solidFill>
            <a:srgbClr val="1A6E7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43200" cy="54864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051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E7D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1051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E7D"/>
                </a:solidFill>
              </a:rPr>
              <a:t>현물 데이터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E8EF"/>
                </a:solidFill>
              </a:rPr>
              <a:t>KRX 정보데이터시스템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CE8EF"/>
                </a:solidFill>
              </a:rPr>
              <a:t>(지수 &gt; 개별지수 시세)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KOSPI200 지수 종가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동일 기간 일별 시계열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743200" cy="3474720"/>
          </a:xfrm>
          <a:prstGeom prst="rect">
            <a:avLst/>
          </a:prstGeom>
          <a:solidFill>
            <a:srgbClr val="0A4B6B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743200" cy="54864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126480" y="1051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B6B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1051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4B6B"/>
                </a:solidFill>
              </a:rPr>
              <a:t>무위험이자율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E8EF"/>
                </a:solidFill>
              </a:rPr>
              <a:t>한국은행 ECOS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CE8EF"/>
                </a:solidFill>
              </a:rPr>
              <a:t>CD 91일물 일별 금리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23317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3개월 국고채 대체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발행 물량 부족으로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CD 금리를 대리변수 채택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7B8C"/>
                </a:solidFill>
              </a:rPr>
              <a:t>※ 유동성 필터: 거래량 또는 미결제약정 &gt; 0 조건 적용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1. 원자료 정리 — 데이터 처리 및 변수 구성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최종거래일(LTD) 식별 · 롤오버 · Moneyness 산출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384048" cy="384048"/>
          </a:xfrm>
          <a:prstGeom prst="ellipse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최종거래일 식별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결제월별 두 번째 목요일 산출 → 주말·공휴일이면 직전 영업일로 보정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847088"/>
            <a:ext cx="384048" cy="384048"/>
          </a:xfrm>
          <a:prstGeom prst="ellipse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01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결제월 집합 정의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거래일 t 기준 만기 미도래 결제월 집합 Mₜ 구성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596896"/>
            <a:ext cx="384048" cy="384048"/>
          </a:xfrm>
          <a:prstGeom prst="ellipse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86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551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근월물 롤오버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852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mₜ,near = argmin_{m∈Mₜ, LTD(m)≥t} LTD(m)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346704"/>
            <a:ext cx="384048" cy="384048"/>
          </a:xfrm>
          <a:prstGeom prst="ellipse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2860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3009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Moneyness 산출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6027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Mᵢ,ₜ = Kᵢ / Sₜ (행사가격 / 현물지수)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4096512"/>
            <a:ext cx="384048" cy="384048"/>
          </a:xfrm>
          <a:prstGeom prst="ellipse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286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050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유동성 필터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3525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거래량 &gt; 0 OR 미결제약정 &gt; 0 조건 적용</a:t>
            </a:r>
            <a:endParaRPr lang="en-US" sz="1050" dirty="0"/>
          </a:p>
        </p:txBody>
      </p:sp>
      <p:pic>
        <p:nvPicPr>
          <p:cNvPr id="25" name="Image 0" descr="/home/claude/docx_images/word/media/imag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1005840"/>
            <a:ext cx="4297680" cy="3840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63440" y="4754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</a:rPr>
              <a:t>최종 데이터셋 변수 구성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2. 옵션 체인 분석 — 2023-11-09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만기월 2023-11 옵션, 행사가격별 콜·풋 가격 곡선</a:t>
            </a:r>
            <a:endParaRPr lang="en-US" sz="1100" dirty="0"/>
          </a:p>
        </p:txBody>
      </p:sp>
      <p:pic>
        <p:nvPicPr>
          <p:cNvPr id="5" name="Image 0" descr="/home/claude/docx_images/word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60120"/>
            <a:ext cx="50292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9240" y="1051560"/>
            <a:ext cx="137160" cy="457200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559552" y="1051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콜옵션(Call)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59552" y="12893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행사가격 ↑ → 가격 ↓ (우하향)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49240" y="1691640"/>
            <a:ext cx="137160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559552" y="1691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풋옵션(Put)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59552" y="19293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행사가격 ↑ → 가격 ↑ (우상향)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49240" y="2331720"/>
            <a:ext cx="137160" cy="45720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559552" y="2331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ATM 구간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59552" y="2569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K ≈ 325, 두 곡선의 교차점 (V자 최저)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49240" y="2971800"/>
            <a:ext cx="3566160" cy="164592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48640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ITM / ATM / OTM 분류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76672" y="3319272"/>
            <a:ext cx="1152144" cy="301752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376672" y="3319272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구분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47104" y="3319272"/>
            <a:ext cx="1152144" cy="301752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547104" y="3319272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콜 조건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17536" y="3319272"/>
            <a:ext cx="1152144" cy="301752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717536" y="3319272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풋 조건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76672" y="3630168"/>
            <a:ext cx="1152144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376672" y="3630168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ITM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47104" y="3630168"/>
            <a:ext cx="1152144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547104" y="3630168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주가 &gt; K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717536" y="3630168"/>
            <a:ext cx="1152144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7717536" y="3630168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주가 &lt; K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376672" y="3941064"/>
            <a:ext cx="1152144" cy="30175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376672" y="3941064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ATM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547104" y="3941064"/>
            <a:ext cx="1152144" cy="30175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6547104" y="3941064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주가 = K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17536" y="3941064"/>
            <a:ext cx="1152144" cy="30175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7717536" y="3941064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주가 = K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376672" y="4251960"/>
            <a:ext cx="1152144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376672" y="4251960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OTM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547104" y="4251960"/>
            <a:ext cx="1152144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547104" y="4251960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주가 &lt; K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717536" y="4251960"/>
            <a:ext cx="1152144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7717536" y="4251960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F"/>
                </a:solidFill>
              </a:rPr>
              <a:t>주가 &gt; 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2. 옵션 체인 — 거래량·미결제약정 상위 옵션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2023-11-09, 만기월 2023-11 기준</a:t>
            </a:r>
            <a:endParaRPr lang="en-US" sz="1100" dirty="0"/>
          </a:p>
        </p:txBody>
      </p:sp>
      <p:pic>
        <p:nvPicPr>
          <p:cNvPr id="5" name="Image 0" descr="/home/claude/docx_images/word/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365760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2423160"/>
            <a:ext cx="4206240" cy="118872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274320" y="2423160"/>
            <a:ext cx="91440" cy="1188720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38912" y="2478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거래량(Volume)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27340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B8C"/>
                </a:solidFill>
              </a:rPr>
              <a:t>ATM 집중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8912" y="293522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ATM·근외가격(K=322.5~330.0) 중심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콜 327.5 ≈ 112만 건, 풋 325.0 ≈ 72만 건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3749040"/>
            <a:ext cx="4206240" cy="118872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74320" y="3749040"/>
            <a:ext cx="91440" cy="118872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38912" y="38039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미결제약정(OI)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" y="40599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B429"/>
                </a:solidFill>
              </a:rPr>
              <a:t>OTM 집중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38912" y="426110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만기 청산 후 모두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만기 직전까지 ATM(Call 325) 최대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9160" y="1005840"/>
            <a:ext cx="4206240" cy="118872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709160" y="1005840"/>
            <a:ext cx="91440" cy="11887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873752" y="10607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깊은 ITM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73752" y="13167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8888"/>
                </a:solidFill>
              </a:rPr>
              <a:t>거래 고갈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3752" y="151790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Call 207.5 종가 118.85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거래량 단 17건 — 유동성 극히 저조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9160" y="2331720"/>
            <a:ext cx="4206240" cy="118872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709160" y="2331720"/>
            <a:ext cx="91440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873752" y="2386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깊은 OTM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73752" y="2642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복권 효과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73752" y="2843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OTM 가격 0에 수렴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Call 327.5 (종가 0.06) — 레버리지 투기 집중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3. 고정 Moneyness 시계열 구축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Near-Month Rollover 반영 | 목표 M = {0.9, 1.0, 1.1}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896112"/>
          </a:xfrm>
          <a:prstGeom prst="rect">
            <a:avLst/>
          </a:prstGeom>
          <a:solidFill>
            <a:srgbClr val="EBF5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088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8C"/>
                </a:solidFill>
              </a:rPr>
              <a:t>목표 Moneyness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624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0.9 (OTM Put / ITM Call)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1.0 (ATM)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1.1 (OTM Call / ITM Put)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411480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8C"/>
                </a:solidFill>
              </a:rPr>
              <a:t>매칭 기준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근월물 중 |M - 목표값|이 최소인 옵션 선택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008376"/>
            <a:ext cx="4114800" cy="896112"/>
          </a:xfrm>
          <a:prstGeom prst="rect">
            <a:avLst/>
          </a:prstGeom>
          <a:solidFill>
            <a:srgbClr val="EBF5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148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8C"/>
                </a:solidFill>
              </a:rPr>
              <a:t>Tie-break Rule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3192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① 거래량 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② 거래량 동률 → 미결제약정 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③ 동일 시 행사가격 낮은 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986784"/>
            <a:ext cx="411480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8C"/>
                </a:solidFill>
              </a:rPr>
              <a:t>구축 변수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297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C₀.₉,ₜ / C₁.₀,ₜ / C₁.₁,ₜ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P₀.₉,ₜ / P₁.₀,ₜ / P₁.₁,ₜ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</a:rPr>
              <a:t>+ 잔존만기, 거래량, 미결제약정, IV</a:t>
            </a:r>
            <a:endParaRPr lang="en-US" sz="1100" dirty="0"/>
          </a:p>
        </p:txBody>
      </p:sp>
      <p:pic>
        <p:nvPicPr>
          <p:cNvPr id="17" name="Image 0" descr="/home/claude/docx_images/word/media/image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914400"/>
            <a:ext cx="4389120" cy="40233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0" y="48463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목표 Moneyness별 행사가격(K) 시계열 (KOSPI200 지수 궤적 반영)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4. 시계열 그래프 — Call·Put 옵션 종가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각 목표 Moneyness별 콜·풋 종가 및 변화율 (1997~2025)</a:t>
            </a:r>
            <a:endParaRPr lang="en-US" sz="1100" dirty="0"/>
          </a:p>
        </p:txBody>
      </p:sp>
      <p:pic>
        <p:nvPicPr>
          <p:cNvPr id="5" name="Image 0" descr="/home/claude/docx_images/word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77240"/>
            <a:ext cx="4389120" cy="3931920"/>
          </a:xfrm>
          <a:prstGeom prst="rect">
            <a:avLst/>
          </a:prstGeom>
        </p:spPr>
      </p:pic>
      <p:pic>
        <p:nvPicPr>
          <p:cNvPr id="6" name="Image 1" descr="/home/claude/docx_images/word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777240"/>
            <a:ext cx="4389120" cy="3931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" y="47091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</a:rPr>
              <a:t>Call 옵션 종가 &amp; 변화율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617720" y="47091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</a:rPr>
              <a:t>Put 옵션 종가 &amp; 변화율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4. 시계열 그래프 — ATM 옵션 &amp; 스트래들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KOSPI200 시장 불확실성의 역사적 스파이크</a:t>
            </a:r>
            <a:endParaRPr lang="en-US" sz="1100" dirty="0"/>
          </a:p>
        </p:txBody>
      </p:sp>
      <p:pic>
        <p:nvPicPr>
          <p:cNvPr id="5" name="Image 0" descr="/home/claude/docx_images/word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77240"/>
            <a:ext cx="8869680" cy="1920240"/>
          </a:xfrm>
          <a:prstGeom prst="rect">
            <a:avLst/>
          </a:prstGeom>
        </p:spPr>
      </p:pic>
      <p:pic>
        <p:nvPicPr>
          <p:cNvPr id="6" name="Image 1" descr="/home/claude/docx_images/word/media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788920"/>
            <a:ext cx="886968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" y="4663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</a:rPr>
              <a:t>ATM 콜·풋 종가 시계열 (Moneyness = 1.0)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617720" y="4663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899AA"/>
                </a:solidFill>
              </a:rPr>
              <a:t>ATM 스트래들 가격 (2008·2020·2026 스파이크)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4. 시계열 그래프 — 내재변동성(IV) 시계열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변동성 스큐 현상 및 유동성 효과</a:t>
            </a:r>
            <a:endParaRPr lang="en-US" sz="1100" dirty="0"/>
          </a:p>
        </p:txBody>
      </p:sp>
      <p:pic>
        <p:nvPicPr>
          <p:cNvPr id="5" name="Image 0" descr="/home/claude/docx_images/word/media/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77240"/>
            <a:ext cx="8869680" cy="2011680"/>
          </a:xfrm>
          <a:prstGeom prst="rect">
            <a:avLst/>
          </a:prstGeom>
        </p:spPr>
      </p:pic>
      <p:pic>
        <p:nvPicPr>
          <p:cNvPr id="6" name="Image 1" descr="/home/claude/docx_images/word/media/image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834640"/>
            <a:ext cx="8869680" cy="201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" y="46908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</a:rPr>
              <a:t>ATM (Moneyness 1.0) 내재변동성 시계열 — 콜·풋 거의 일치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617720" y="4690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899AA"/>
                </a:solidFill>
              </a:rPr>
              <a:t>Moneyness 1.1 내재변동성 — ITM 풋 극단 노이즈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4. 시계열 그래프 — 핵심 관찰 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0F7B8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변동성 스큐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OTM 풋(M=0.9) IV &gt; ATM IV (10~20%) → 평시 25~40%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하락 헤지 수요로 인한 Crash Phobia 반영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926080"/>
            <a:ext cx="4160520" cy="1737360"/>
          </a:xfrm>
          <a:prstGeom prst="rect">
            <a:avLst/>
          </a:prstGeom>
          <a:solidFill>
            <a:srgbClr val="1A6E7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유동성 효과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ATM: 콜·풋 IV가 거의 완벽히 겹침 (유동성 최대)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OTM 풋·콜은 안정적 vs ITM 옵션은 극단 노이즈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0A4B6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1887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위기 동학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2008·2011·2020 위기 시 전 구간 IV 동반 급등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ATM 최대 80~100%, OTM 풋 기저 자체가 상승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4160520" cy="1737360"/>
          </a:xfrm>
          <a:prstGeom prst="rect">
            <a:avLst/>
          </a:prstGeom>
          <a:solidFill>
            <a:srgbClr val="F0B429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스트래들 스파이크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42900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ATM Straddle 평균 7.75 → 최대 40.55 (위기 시)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방향 무관 '변동성 자체'의 가격 측정 지표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5. 기초 통계량 — KOSPI200 옵션 시계열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Obs / 평균 / 표준편차 / Skewness / Kurtosis / Min / Max</a:t>
            </a:r>
            <a:endParaRPr lang="en-US" sz="1100" dirty="0"/>
          </a:p>
        </p:txBody>
      </p:sp>
      <p:pic>
        <p:nvPicPr>
          <p:cNvPr id="5" name="Image 0" descr="/home/claude/docx_images/word/media/image2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" y="777240"/>
            <a:ext cx="89611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5. 기초 통계량 — 핵심 발견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가격 구조 · 거래 패턴 · 위기 충격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09728" cy="1188720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11155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평균 가격 구조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143560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Call: ITM(C₀.₉) 26.06 &gt; ATM(C₁.₀) 3.83 &gt; OTM(C₁.₁) 0.15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Put: ITM(P₁.₁) 24.31 &gt; ATM(P₁.₀) 3.92 &gt; OTM(P₀.₉) 0.34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377440"/>
            <a:ext cx="4206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28600" y="2377440"/>
            <a:ext cx="109728" cy="118872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29768" y="24414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IV 스큐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" y="276148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OTM Put(M=0.9) IV = 31.70% &gt; OTM Call(M=1.1) 23.84% &gt; ATM 17~18%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전형적인 좌상향 변동성 스머크(Volatility Smirk)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703320"/>
            <a:ext cx="4206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28600" y="3703320"/>
            <a:ext cx="109728" cy="1188720"/>
          </a:xfrm>
          <a:prstGeom prst="rect">
            <a:avLst/>
          </a:prstGeom>
          <a:solidFill>
            <a:srgbClr val="1A6E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9768" y="37673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거래량 ATM 집중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" y="408736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ATM 콜 205,436 / ATM 풋 182,160 (전체 최대)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ITM 거래량은 154~167건으로 사실상 고갈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206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109728" cy="1188720"/>
          </a:xfrm>
          <a:prstGeom prst="rect">
            <a:avLst/>
          </a:prstGeom>
          <a:solidFill>
            <a:srgbClr val="0A4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64608" y="11155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미결제약정 OTM 집중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143560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OTM 콜(C₁.₁) 55,720 — ATM의 2배 이상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OTM 풋(P₀.₉) 46,926 → 기관 헤지 포지션 집중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4206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109728" cy="118872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64608" y="24414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위기 시 IV 폭발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64608" y="276148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C₀.₉ IV 최대 176%, P₁.₁ IV 최대 148%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평시 17~18% → 위기 시 100% 상회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703320"/>
            <a:ext cx="4206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663440" y="3703320"/>
            <a:ext cx="109728" cy="1188720"/>
          </a:xfrm>
          <a:prstGeom prst="rect">
            <a:avLst/>
          </a:prstGeom>
          <a:solidFill>
            <a:srgbClr val="6B2B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64608" y="37673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스트래들 극단화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Straddle 평균 7.75 → 최대 40.55 (5배 이상)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OTM 옵션 왜도·첨도 극단: C₁.₁ 왜도 7.23, 첨도 70.05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6. 추가 분석 — Put-Call Parity Deviation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ATM 옵션 기준 PCP 편차 시계열 (2007~2026)</a:t>
            </a:r>
            <a:endParaRPr lang="en-US" sz="1100" dirty="0"/>
          </a:p>
        </p:txBody>
      </p:sp>
      <p:pic>
        <p:nvPicPr>
          <p:cNvPr id="5" name="Image 0" descr="/home/claude/docx_images/word/media/imag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04672"/>
            <a:ext cx="88696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114800"/>
            <a:ext cx="91440" cy="256032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84048" y="4114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만기 임박 효과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51760" y="411480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청산 비용·마진 부담으로 편차 일시 확대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8600" y="4434840"/>
            <a:ext cx="91440" cy="256032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434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2008 GFC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51760" y="443484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현물 공매도 제약·달러 유동성 고갈 → 최대 -6 이하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4754880"/>
            <a:ext cx="91440" cy="256032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84048" y="47548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2020 코로나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651760" y="4754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마진콜·ELS 헤지 자금 교란 → 단기 급락 스파이크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6. 추가 분석 — Volatility Skew 시계열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Skewt = IV₀.₉,ₜ − IV₁.₀,ₜ (OTM Put 프리미엄)</a:t>
            </a:r>
            <a:endParaRPr lang="en-US" sz="1100" dirty="0"/>
          </a:p>
        </p:txBody>
      </p:sp>
      <p:pic>
        <p:nvPicPr>
          <p:cNvPr id="5" name="Image 0" descr="/home/claude/docx_images/word/media/imag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04672"/>
            <a:ext cx="88696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114800"/>
            <a:ext cx="91440" cy="256032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84048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항상 양(+)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60320" y="411480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스큐는 전 기간에 걸쳐 0 이상 → 하방 위험 인식 상시 반영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8600" y="4434840"/>
            <a:ext cx="91440" cy="256032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434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위기 동반 급증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60320" y="44348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VKOSPI 급등기 → 투자자 OTM 풋 적극 매수 → 스큐 동반 상승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4754880"/>
            <a:ext cx="91440" cy="256032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84048" y="4754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비대칭 경직성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560320" y="475488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VKOSPI 하락 후에도 스큐는 높은 수준 유지 → 하락 경계 잔존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6. 추가 분석 — 위기 시기 비교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2008 GFC vs 2020 코로나19 쇼크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737360" cy="4114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분석 항목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005840"/>
            <a:ext cx="3474720" cy="4114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92024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2008 글로벌 금융위기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1005840"/>
            <a:ext cx="3474720" cy="4114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4068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2020 코로나19 쇼크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17320"/>
            <a:ext cx="1737360" cy="84124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417320"/>
            <a:ext cx="159105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충격 성격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1417320"/>
            <a:ext cx="3474720" cy="84124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993392" y="1417320"/>
            <a:ext cx="332841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신용경색·금융 시스템 붕괴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(장기 지속형)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40680" y="1417320"/>
            <a:ext cx="3474720" cy="84124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513832" y="1417320"/>
            <a:ext cx="332841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글로벌 공급망 마비·팬데믹 공포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(단기 급발진형)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313432"/>
            <a:ext cx="1737360" cy="84124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56032" y="2313432"/>
            <a:ext cx="159105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PCP 편차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20240" y="2313432"/>
            <a:ext cx="3474720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993392" y="2313432"/>
            <a:ext cx="332841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극단적 음(-)의 편차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(최대 -6 수준)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40680" y="2313432"/>
            <a:ext cx="3474720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513832" y="2313432"/>
            <a:ext cx="332841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단기 대규모 음(-) 스파이크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(-6 돌파 후 빠르게 회복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2880" y="3209544"/>
            <a:ext cx="1737360" cy="84124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56032" y="3209544"/>
            <a:ext cx="159105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Volatility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20240" y="3209544"/>
            <a:ext cx="3474720" cy="84124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993392" y="3209544"/>
            <a:ext cx="332841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변동폭 매우 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하방 공포 장기 지속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40680" y="3209544"/>
            <a:ext cx="3474720" cy="84124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513832" y="3209544"/>
            <a:ext cx="332841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단기 극단 급증 후 빠른 정상화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V자 반등과 함께 스큐 구조 복원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2880" y="4105656"/>
            <a:ext cx="1737360" cy="841248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56032" y="4105656"/>
            <a:ext cx="159105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Straddle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4105656"/>
            <a:ext cx="3474720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993392" y="4105656"/>
            <a:ext cx="332841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평시 대비 수 배 이상 급등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풋 옵션 가격 가파른 상승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40680" y="4105656"/>
            <a:ext cx="3474720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513832" y="4105656"/>
            <a:ext cx="332841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내재변동성 폭등 → 스트래들 급등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</a:rPr>
              <a:t>위기 해소 후 빠른 안정화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6. 추가 분석 — VKOSPI 비교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VKOSPI vs ATM IV · ATM Straddle · Volatility Skew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3611880"/>
          </a:xfrm>
          <a:prstGeom prst="rect">
            <a:avLst/>
          </a:prstGeom>
          <a:solidFill>
            <a:srgbClr val="0F7B8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VKOSPI &gt; ATM IV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(항상)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164592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OTM 풋의 높은 IV가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VKOSPI 산출에 가중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→ 항상 ATM IV 상회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1051560"/>
            <a:ext cx="2011680" cy="3611880"/>
          </a:xfrm>
          <a:prstGeom prst="rect">
            <a:avLst/>
          </a:prstGeom>
          <a:solidFill>
            <a:srgbClr val="1A6E7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496312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ATM Straddle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동행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87752" y="1874520"/>
            <a:ext cx="164592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96312" y="196596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ATM IV와 선형 관계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→ VKOSPI 급등 시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Straddle 즉각 스파이크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81144" y="1051560"/>
            <a:ext cx="2011680" cy="3611880"/>
          </a:xfrm>
          <a:prstGeom prst="rect">
            <a:avLst/>
          </a:prstGeom>
          <a:solidFill>
            <a:srgbClr val="0A4B6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72584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Skew 동반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급증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64024" y="1874520"/>
            <a:ext cx="164592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72584" y="196596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VKOSPI 상승 국면에서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OTM 풋 매수 증가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→ Skew 동반 상승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57416" y="1051560"/>
            <a:ext cx="2011680" cy="3611880"/>
          </a:xfrm>
          <a:prstGeom prst="rect">
            <a:avLst/>
          </a:prstGeom>
          <a:solidFill>
            <a:srgbClr val="F0B429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48856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비대칭 시차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0296" y="1874520"/>
            <a:ext cx="1645920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48856" y="196596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VKOSPI 하락 후에도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Skew 경직 유지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E8EF"/>
                </a:solidFill>
              </a:rPr>
              <a:t>→ 하락 경계 잔존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</a:rPr>
              <a:t>※ VKOSPI: KOSPI200 옵션 가격 기반 향후 30일 기대변동성 측정 지수 (Model-free IV)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7. 내재변동성 직접 계산 — 방법론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7B8C"/>
                </a:solidFill>
              </a:rPr>
              <a:t>Black-Scholes 역함수 → 수치해석(Numerical Method)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920240" cy="1188720"/>
          </a:xfrm>
          <a:prstGeom prst="rect">
            <a:avLst/>
          </a:prstGeom>
          <a:solidFill>
            <a:srgbClr val="0F7B8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01752" y="11430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시장 옵션 가격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(KRX 거래가)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" y="18288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E8EF"/>
                </a:solidFill>
              </a:rPr>
              <a:t>관측값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645920"/>
            <a:ext cx="41148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331720" y="1051560"/>
            <a:ext cx="1920240" cy="1188720"/>
          </a:xfrm>
          <a:prstGeom prst="rect">
            <a:avLst/>
          </a:prstGeom>
          <a:solidFill>
            <a:srgbClr val="1A6E7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404872" y="11430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BS 모형 변수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(S, K, r, T, q=0)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04872" y="18288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E8EF"/>
                </a:solidFill>
              </a:rPr>
              <a:t>입력값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645920"/>
            <a:ext cx="41148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1920240" cy="1188720"/>
          </a:xfrm>
          <a:prstGeom prst="rect">
            <a:avLst/>
          </a:prstGeom>
          <a:solidFill>
            <a:srgbClr val="0A4B6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07992" y="11430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BS 역함수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(수치해석 불가)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07992" y="18288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E8EF"/>
                </a:solidFill>
              </a:rPr>
              <a:t>σ 폐형식 없음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41148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37960" y="1051560"/>
            <a:ext cx="1920240" cy="1188720"/>
          </a:xfrm>
          <a:prstGeom prst="rect">
            <a:avLst/>
          </a:prstGeom>
          <a:solidFill>
            <a:srgbClr val="F0B42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11112" y="11430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수치해석법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(Brentq / Newton)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11112" y="18288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E8EF"/>
                </a:solidFill>
              </a:rPr>
              <a:t>σ 수렴 추정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423160"/>
            <a:ext cx="8686800" cy="246888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249631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수치해석 원리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852928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2E3F"/>
                </a:solidFill>
              </a:rPr>
              <a:t>BS 방정식 </a:t>
            </a:r>
            <a:r>
              <a:rPr lang="en-US" sz="1150" b="1" dirty="0">
                <a:solidFill>
                  <a:srgbClr val="0F7B8C"/>
                </a:solidFill>
              </a:rPr>
              <a:t>C = S·N(d₁) − K·e^{−rT}·N(d₂)</a:t>
            </a:r>
            <a:r>
              <a:rPr lang="en-US" sz="1150" dirty="0">
                <a:solidFill>
                  <a:srgbClr val="1A2E3F"/>
                </a:solidFill>
              </a:rPr>
              <a:t>에서 σ(변동성)는 N(d₁), N(d₂)에 비선형적으로 포함되어 있어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2E3F"/>
                </a:solidFill>
              </a:rPr>
              <a:t>'닫힌 형태(Closed-form) 역함수' 도출이 불가능합니다.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2E3F"/>
                </a:solidFill>
              </a:rPr>
              <a:t>대신 시장 옵션 가격을 목표값으로 두고, 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F7B8C"/>
                </a:solidFill>
              </a:rPr>
              <a:t>BS 가격 = 시장 가격</a:t>
            </a:r>
            <a:r>
              <a:rPr lang="en-US" sz="1150" dirty="0">
                <a:solidFill>
                  <a:srgbClr val="1A2E3F"/>
                </a:solidFill>
              </a:rPr>
              <a:t>이 되는 σ를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2E3F"/>
                </a:solidFill>
              </a:rPr>
              <a:t>수치적으로 반복 탐색하여 내재변동성을 추정합니다.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7. 내재변동성 직접 계산 — </a:t>
            </a:r>
            <a:r>
              <a:rPr lang="en-US" sz="2000" b="1" dirty="0" err="1">
                <a:solidFill>
                  <a:srgbClr val="FFFFFF"/>
                </a:solidFill>
              </a:rPr>
              <a:t>핵심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ko-KR" altLang="en-US" sz="2000" b="1" dirty="0">
                <a:solidFill>
                  <a:srgbClr val="FFFFFF"/>
                </a:solidFill>
              </a:rPr>
              <a:t>내용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737360"/>
          </a:xfrm>
          <a:prstGeom prst="rect">
            <a:avLst/>
          </a:prstGeom>
          <a:solidFill>
            <a:srgbClr val="0F7B8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위기 시 IV 급등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2008 ATM Put IV &gt; 100%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2020 코로나 ~80%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2011 유럽 재정위기 ~70% 상회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" y="2926080"/>
            <a:ext cx="4206240" cy="1737360"/>
          </a:xfrm>
          <a:prstGeom prst="rect">
            <a:avLst/>
          </a:prstGeom>
          <a:solidFill>
            <a:srgbClr val="1A6E7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Put IV &gt; Call IV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4290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전반적 Put IV ≥ Call IV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(평균 차이 ≈ −0.005, 거의 0)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ATM에서 Put-Call Parity 비교적 성립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737360"/>
          </a:xfrm>
          <a:prstGeom prst="rect">
            <a:avLst/>
          </a:prstGeom>
          <a:solidFill>
            <a:srgbClr val="0A4B6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OTM Put IV 최대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OTM Put(M=0.9) IV = 24.5%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OTM Call(M=1.1) &lt; ATM &lt; OTM Put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→ Volatility Smirk 확인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206240" cy="1737360"/>
          </a:xfrm>
          <a:prstGeom prst="rect">
            <a:avLst/>
          </a:prstGeom>
          <a:solidFill>
            <a:srgbClr val="F0B429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</a:rPr>
              <a:t>Straddle 동행성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ATM Straddle 가격↑ ⟺ IV↑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상관관계 0.9467 (계산 vs 원본)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2025~2026 초 Straddle 최대 40 이상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2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</a:rPr>
              <a:t>결 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B429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18488"/>
            <a:ext cx="274320" cy="2743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변동성 스큐 상존 — OTM 풋 IV 항상 ATM·OTM 콜보다 높음 (Crash Phobia)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258568"/>
            <a:ext cx="274320" cy="2743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거래량 ATM 집중 / 미결제약정 OTM 집중 — 투기 vs 헤지 수요 분리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898648"/>
            <a:ext cx="274320" cy="2743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1148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위기 시 IV 폭발 — 평시 17~18% → 위기 100% 이상, Straddle 최대 40.55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538728"/>
            <a:ext cx="274320" cy="2743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Black-Scholes 수치해석으로 계산한 IV와 원본 IV의 상관관계 0.9467 — 방법론 유효성 확인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178808"/>
            <a:ext cx="274320" cy="2743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11480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Put-Call Parity ATM에서 비교적 성립 (IV 차이 ≈ 0), 위기 시 편차 일시 확대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1755</Words>
  <Application>Microsoft Office PowerPoint</Application>
  <PresentationFormat>화면 슬라이드 쇼(16:9)</PresentationFormat>
  <Paragraphs>304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KOSPI200 옵션 분석</dc:title>
  <dc:subject>PptxGenJS Presentation</dc:subject>
  <dc:creator>PptxGenJS</dc:creator>
  <cp:lastModifiedBy>수린 김</cp:lastModifiedBy>
  <cp:revision>2</cp:revision>
  <dcterms:created xsi:type="dcterms:W3CDTF">2026-05-26T20:14:34Z</dcterms:created>
  <dcterms:modified xsi:type="dcterms:W3CDTF">2026-05-26T20:21:17Z</dcterms:modified>
</cp:coreProperties>
</file>