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26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8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린 김" userId="190261bea96bfc57" providerId="LiveId" clId="{374411F7-24C3-48E5-AFA8-97AF051099B7}"/>
    <pc:docChg chg="modSld">
      <pc:chgData name="수린 김" userId="190261bea96bfc57" providerId="LiveId" clId="{374411F7-24C3-48E5-AFA8-97AF051099B7}" dt="2026-06-10T03:49:18.726" v="117" actId="20577"/>
      <pc:docMkLst>
        <pc:docMk/>
      </pc:docMkLst>
      <pc:sldChg chg="modSp mod">
        <pc:chgData name="수린 김" userId="190261bea96bfc57" providerId="LiveId" clId="{374411F7-24C3-48E5-AFA8-97AF051099B7}" dt="2026-06-10T03:49:18.726" v="117" actId="20577"/>
        <pc:sldMkLst>
          <pc:docMk/>
          <pc:sldMk cId="0" sldId="260"/>
        </pc:sldMkLst>
        <pc:spChg chg="mod">
          <ac:chgData name="수린 김" userId="190261bea96bfc57" providerId="LiveId" clId="{374411F7-24C3-48E5-AFA8-97AF051099B7}" dt="2026-06-10T03:49:18.726" v="117" actId="20577"/>
          <ac:spMkLst>
            <pc:docMk/>
            <pc:sldMk cId="0" sldId="260"/>
            <ac:spMk id="30" creationId="{00000000-0000-0000-0000-000000000000}"/>
          </ac:spMkLst>
        </pc:spChg>
      </pc:sldChg>
      <pc:sldChg chg="modSp mod">
        <pc:chgData name="수린 김" userId="190261bea96bfc57" providerId="LiveId" clId="{374411F7-24C3-48E5-AFA8-97AF051099B7}" dt="2026-06-10T01:14:52.070" v="0" actId="20577"/>
        <pc:sldMkLst>
          <pc:docMk/>
          <pc:sldMk cId="0" sldId="269"/>
        </pc:sldMkLst>
        <pc:spChg chg="mod">
          <ac:chgData name="수린 김" userId="190261bea96bfc57" providerId="LiveId" clId="{374411F7-24C3-48E5-AFA8-97AF051099B7}" dt="2026-06-10T01:14:52.070" v="0" actId="20577"/>
          <ac:spMkLst>
            <pc:docMk/>
            <pc:sldMk cId="0" sldId="269"/>
            <ac:spMk id="9" creationId="{00000000-0000-0000-0000-000000000000}"/>
          </ac:spMkLst>
        </pc:spChg>
      </pc:sldChg>
      <pc:sldChg chg="modSp mod">
        <pc:chgData name="수린 김" userId="190261bea96bfc57" providerId="LiveId" clId="{374411F7-24C3-48E5-AFA8-97AF051099B7}" dt="2026-06-10T01:35:47.261" v="99" actId="20577"/>
        <pc:sldMkLst>
          <pc:docMk/>
          <pc:sldMk cId="0" sldId="272"/>
        </pc:sldMkLst>
        <pc:spChg chg="mod">
          <ac:chgData name="수린 김" userId="190261bea96bfc57" providerId="LiveId" clId="{374411F7-24C3-48E5-AFA8-97AF051099B7}" dt="2026-06-10T01:35:47.261" v="99" actId="20577"/>
          <ac:spMkLst>
            <pc:docMk/>
            <pc:sldMk cId="0" sldId="272"/>
            <ac:spMk id="1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28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3977640"/>
            <a:ext cx="9144000" cy="0"/>
          </a:xfrm>
          <a:prstGeom prst="line">
            <a:avLst/>
          </a:prstGeom>
          <a:noFill/>
          <a:ln w="12700">
            <a:solidFill>
              <a:srgbClr val="00B3A4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977640"/>
            <a:ext cx="76200" cy="821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" y="4059832"/>
            <a:ext cx="76200" cy="801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2400" y="4139958"/>
            <a:ext cx="76200" cy="7715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" y="4217114"/>
            <a:ext cx="76200" cy="733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4800" y="4290440"/>
            <a:ext cx="76200" cy="6869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000" y="4359135"/>
            <a:ext cx="76200" cy="633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4422460"/>
            <a:ext cx="76200" cy="5729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3400" y="4479751"/>
            <a:ext cx="76200" cy="5066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9600" y="4530420"/>
            <a:ext cx="76200" cy="4354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4573965"/>
            <a:ext cx="76200" cy="3600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62000" y="4609974"/>
            <a:ext cx="76200" cy="2815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8200" y="4638127"/>
            <a:ext cx="76200" cy="2007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4658199"/>
            <a:ext cx="76200" cy="1186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90600" y="4670064"/>
            <a:ext cx="76200" cy="362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66800" y="467369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43000" y="466914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219200" y="465658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295400" y="463626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371600" y="460851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447800" y="457376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4000" y="453249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600200" y="448527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676400" y="443274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752600" y="437556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828800" y="431446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905000" y="425021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981200" y="418359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057400" y="411540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133600" y="404646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209800" y="397759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286000" y="390958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362200" y="384321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438400" y="377923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514600" y="371836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590800" y="366127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667000" y="360858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743200" y="356085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819400" y="351856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895600" y="348215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971800" y="345196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048000" y="342828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124200" y="341130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0" y="340113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76600" y="3397817"/>
            <a:ext cx="76200" cy="349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3352800" y="3401307"/>
            <a:ext cx="76200" cy="1017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3429000" y="3411481"/>
            <a:ext cx="76200" cy="1666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505200" y="3428143"/>
            <a:ext cx="76200" cy="2287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581400" y="3451020"/>
            <a:ext cx="76200" cy="2875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657600" y="3479772"/>
            <a:ext cx="76200" cy="3422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733800" y="3513995"/>
            <a:ext cx="76200" cy="3923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810000" y="3553227"/>
            <a:ext cx="76200" cy="4372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886200" y="3596952"/>
            <a:ext cx="76200" cy="4765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962400" y="3644609"/>
            <a:ext cx="76200" cy="5098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038600" y="3695597"/>
            <a:ext cx="76200" cy="5368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114800" y="3749285"/>
            <a:ext cx="76200" cy="5573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191000" y="3805016"/>
            <a:ext cx="76200" cy="5710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267200" y="3862119"/>
            <a:ext cx="76200" cy="5779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4343400" y="3919913"/>
            <a:ext cx="76200" cy="5780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419600" y="3977719"/>
            <a:ext cx="76200" cy="5714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495800" y="4034863"/>
            <a:ext cx="76200" cy="558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572000" y="4090689"/>
            <a:ext cx="76200" cy="5387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4648200" y="4144561"/>
            <a:ext cx="76200" cy="5131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4724400" y="4195877"/>
            <a:ext cx="76200" cy="4819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800600" y="4244068"/>
            <a:ext cx="76200" cy="4454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876800" y="4288608"/>
            <a:ext cx="76200" cy="4041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953000" y="4329020"/>
            <a:ext cx="76200" cy="3586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5029200" y="4364881"/>
            <a:ext cx="76200" cy="3094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5105400" y="4395824"/>
            <a:ext cx="76200" cy="2572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5181600" y="4421545"/>
            <a:ext cx="76200" cy="2025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5257800" y="4441801"/>
            <a:ext cx="76200" cy="1461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5334000" y="4456417"/>
            <a:ext cx="76200" cy="886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5410200" y="4465286"/>
            <a:ext cx="76200" cy="308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5486400" y="446836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5562600" y="446568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638800" y="445734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5715000" y="444348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5791200" y="442434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5867400" y="440019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5943600" y="437136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019800" y="433825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6096000" y="430128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6172200" y="426092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6248400" y="421768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6324600" y="417210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6400800" y="412471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6477000" y="407611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553200" y="402685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6629400" y="397753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6705600" y="392872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6781800" y="388098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6858000" y="383485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6934200" y="379086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7010400" y="374949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7086600" y="371120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7162800" y="367640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7239000" y="364546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315200" y="361871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7391400" y="359641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7467600" y="357878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7543800" y="356598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7620000" y="355811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7696200" y="3555212"/>
            <a:ext cx="76200" cy="205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7772400" y="3557271"/>
            <a:ext cx="76200" cy="694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7848600" y="3564215"/>
            <a:ext cx="76200" cy="1170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7924800" y="3575918"/>
            <a:ext cx="76200" cy="1627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8001000" y="3592197"/>
            <a:ext cx="76200" cy="2062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8077200" y="3612820"/>
            <a:ext cx="76200" cy="2468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8153400" y="3637505"/>
            <a:ext cx="76200" cy="2842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8229600" y="3665926"/>
            <a:ext cx="76200" cy="317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8305800" y="3697719"/>
            <a:ext cx="76200" cy="3476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8382000" y="3732481"/>
            <a:ext cx="76200" cy="3729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8458200" y="3769780"/>
            <a:ext cx="76200" cy="3938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8534400" y="3809160"/>
            <a:ext cx="76200" cy="4098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8610600" y="3850142"/>
            <a:ext cx="76200" cy="4209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8686800" y="3892236"/>
            <a:ext cx="76200" cy="4270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763000" y="3934942"/>
            <a:ext cx="76200" cy="4281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8839200" y="3977757"/>
            <a:ext cx="76200" cy="424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915400" y="4020182"/>
            <a:ext cx="76200" cy="4154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8991600" y="4061729"/>
            <a:ext cx="76200" cy="401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67800" y="4101921"/>
            <a:ext cx="76200" cy="3838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TRADING STRATEGY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502920" y="1783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Pair Trading Strategy</a:t>
            </a:r>
            <a:endParaRPr lang="en-US" sz="4800" dirty="0"/>
          </a:p>
        </p:txBody>
      </p:sp>
      <p:sp>
        <p:nvSpPr>
          <p:cNvPr id="126" name="Text 124"/>
          <p:cNvSpPr/>
          <p:nvPr/>
        </p:nvSpPr>
        <p:spPr>
          <a:xfrm>
            <a:off x="502920" y="2542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FB3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KOSPI Top 50 Stocks</a:t>
            </a:r>
            <a:endParaRPr lang="en-US" sz="4000" dirty="0"/>
          </a:p>
        </p:txBody>
      </p:sp>
      <p:sp>
        <p:nvSpPr>
          <p:cNvPr id="127" name="Shape 125"/>
          <p:cNvSpPr/>
          <p:nvPr/>
        </p:nvSpPr>
        <p:spPr>
          <a:xfrm>
            <a:off x="502920" y="3456432"/>
            <a:ext cx="1005840" cy="0"/>
          </a:xfrm>
          <a:prstGeom prst="line">
            <a:avLst/>
          </a:prstGeom>
          <a:noFill/>
          <a:ln w="31750">
            <a:solidFill>
              <a:srgbClr val="00B3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6"/>
          <p:cNvSpPr/>
          <p:nvPr/>
        </p:nvSpPr>
        <p:spPr>
          <a:xfrm>
            <a:off x="502920" y="3584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  </a:t>
            </a:r>
            <a:r>
              <a:rPr lang="en-US" sz="1500" dirty="0">
                <a:solidFill>
                  <a:srgbClr val="C7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경제학부 김수린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2676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487168" cy="2697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62456" y="2057400"/>
            <a:ext cx="768096" cy="768096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2494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20954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Training Period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5935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Pair 선정, spread 구조 추정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977640"/>
            <a:ext cx="175564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2010.01 – 2018.12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30652" y="2903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328416" y="1783080"/>
            <a:ext cx="2487168" cy="2697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87952" y="2057400"/>
            <a:ext cx="768096" cy="768096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24942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65576" y="297180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65576" y="320954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Period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465576" y="35935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규칙 및 threshold 조정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94176" y="3977640"/>
            <a:ext cx="175564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3694176" y="39776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2019.01 – 2021.12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756148" y="2903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6153912" y="1783080"/>
            <a:ext cx="2487168" cy="2697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7013448" y="2057400"/>
            <a:ext cx="768096" cy="768096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2249424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91072" y="297180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91072" y="320954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Period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291072" y="35935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out-of-sample 성과 평가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519672" y="3977640"/>
            <a:ext cx="175564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6519672" y="39776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2022.01 – 현재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UNIVERSE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 Top 50 종목 유니버스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494587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94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37030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5028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850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1837030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SK하이닉스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9273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220599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205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19273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548433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2561692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6928" y="25616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2548433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SK스퀘어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904134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2917393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2917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2904134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259836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66928" y="3273095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66928" y="32730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3259836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61553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66928" y="3628796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36287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361553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LG에너지솔루션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971239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66928" y="398449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66928" y="39844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8680" y="3971239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삼성생명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32694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66928" y="434020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6928" y="43402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432694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삼성물산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682642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66928" y="4695901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66928" y="469590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8680" y="4682642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HD현대중공업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59813" y="148132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223821" y="1494587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223821" y="1494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525573" y="148132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기아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59813" y="1837030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223821" y="185028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223821" y="1850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25573" y="1837030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삼성바이오로직스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159813" y="219273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223821" y="220599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2223821" y="2205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525573" y="219273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KB금융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59813" y="2548433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2223821" y="2561692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223821" y="25616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525573" y="2548433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현대모비스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159813" y="2904134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2223821" y="2917393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223821" y="2917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525573" y="2904134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두산에너빌리티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59813" y="3259836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2223821" y="3273095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2223821" y="32730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525573" y="3259836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한화에어로스페이스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159813" y="361553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2223821" y="3628796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2223821" y="36287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525573" y="361553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신한지주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159813" y="3971239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2223821" y="398449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2223821" y="39844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525573" y="3971239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159813" y="432694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2223821" y="434020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2223821" y="43402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2525573" y="432694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LG전자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159813" y="4682642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2223821" y="4695901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2223821" y="469590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2525573" y="4682642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3816706" y="148132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3880714" y="1494587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3880714" y="1494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182466" y="148132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삼성SDI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816706" y="1837030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3880714" y="185028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3880714" y="1850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182466" y="1837030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셀트리온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3816706" y="219273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3880714" y="220599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3880714" y="2205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4182466" y="219273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HD현대일렉트릭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816706" y="2548433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3880714" y="2561692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3880714" y="25616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4182466" y="2548433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한화오션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3816706" y="2904134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3880714" y="2917393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3880714" y="2917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4182466" y="2904134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ELECTRIC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3816706" y="3259836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3880714" y="3273095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3880714" y="32730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4182466" y="3259836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하나금융지주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3816706" y="361553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3880714" y="3628796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/>
          <p:nvPr/>
        </p:nvSpPr>
        <p:spPr>
          <a:xfrm>
            <a:off x="3880714" y="36287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4182466" y="361553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삼성화재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3816706" y="3971239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3880714" y="398449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/>
          <p:nvPr/>
        </p:nvSpPr>
        <p:spPr>
          <a:xfrm>
            <a:off x="3880714" y="39844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4182466" y="3971239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효성중공업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3816706" y="432694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3880714" y="434020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6"/>
          <p:cNvSpPr/>
          <p:nvPr/>
        </p:nvSpPr>
        <p:spPr>
          <a:xfrm>
            <a:off x="3880714" y="43402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4182466" y="432694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POSCO홀딩스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3816706" y="4682642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3880714" y="4695901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/>
          <p:cNvSpPr/>
          <p:nvPr/>
        </p:nvSpPr>
        <p:spPr>
          <a:xfrm>
            <a:off x="3880714" y="469590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4182466" y="4682642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미래에셋증권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5473598" y="148132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>
            <a:off x="5537606" y="1494587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4"/>
          <p:cNvSpPr/>
          <p:nvPr/>
        </p:nvSpPr>
        <p:spPr>
          <a:xfrm>
            <a:off x="5537606" y="1494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5839358" y="148132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KODEX 200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5473598" y="1837030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5537606" y="185028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/>
          <p:nvPr/>
        </p:nvSpPr>
        <p:spPr>
          <a:xfrm>
            <a:off x="5537606" y="1850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5839358" y="1837030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LG이노텍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5473598" y="219273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5537606" y="220599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132"/>
          <p:cNvSpPr/>
          <p:nvPr/>
        </p:nvSpPr>
        <p:spPr>
          <a:xfrm>
            <a:off x="5537606" y="2205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5839358" y="219273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두산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5473598" y="2548433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5537606" y="2561692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136"/>
          <p:cNvSpPr/>
          <p:nvPr/>
        </p:nvSpPr>
        <p:spPr>
          <a:xfrm>
            <a:off x="5537606" y="25616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5839358" y="2548433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HD한국조선해양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5473598" y="2904134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5537606" y="2917393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/>
          <p:nvPr/>
        </p:nvSpPr>
        <p:spPr>
          <a:xfrm>
            <a:off x="5537606" y="2917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5839358" y="2904134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한미반도체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5473598" y="3259836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5537606" y="3273095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44"/>
          <p:cNvSpPr/>
          <p:nvPr/>
        </p:nvSpPr>
        <p:spPr>
          <a:xfrm>
            <a:off x="5537606" y="32730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50" dirty="0"/>
          </a:p>
        </p:txBody>
      </p:sp>
      <p:sp>
        <p:nvSpPr>
          <p:cNvPr id="147" name="Text 145"/>
          <p:cNvSpPr/>
          <p:nvPr/>
        </p:nvSpPr>
        <p:spPr>
          <a:xfrm>
            <a:off x="5839358" y="3259836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고려아연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5473598" y="361553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5537606" y="3628796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148"/>
          <p:cNvSpPr/>
          <p:nvPr/>
        </p:nvSpPr>
        <p:spPr>
          <a:xfrm>
            <a:off x="5537606" y="36287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50" dirty="0"/>
          </a:p>
        </p:txBody>
      </p:sp>
      <p:sp>
        <p:nvSpPr>
          <p:cNvPr id="151" name="Text 149"/>
          <p:cNvSpPr/>
          <p:nvPr/>
        </p:nvSpPr>
        <p:spPr>
          <a:xfrm>
            <a:off x="5839358" y="361553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한국전력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5473598" y="3971239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5537606" y="398449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152"/>
          <p:cNvSpPr/>
          <p:nvPr/>
        </p:nvSpPr>
        <p:spPr>
          <a:xfrm>
            <a:off x="5537606" y="39844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50" dirty="0"/>
          </a:p>
        </p:txBody>
      </p:sp>
      <p:sp>
        <p:nvSpPr>
          <p:cNvPr id="155" name="Text 153"/>
          <p:cNvSpPr/>
          <p:nvPr/>
        </p:nvSpPr>
        <p:spPr>
          <a:xfrm>
            <a:off x="5839358" y="3971239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삼성중공업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5473598" y="432694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>
            <a:off x="5537606" y="434020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156"/>
          <p:cNvSpPr/>
          <p:nvPr/>
        </p:nvSpPr>
        <p:spPr>
          <a:xfrm>
            <a:off x="5537606" y="43402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50" dirty="0"/>
          </a:p>
        </p:txBody>
      </p:sp>
      <p:sp>
        <p:nvSpPr>
          <p:cNvPr id="159" name="Text 157"/>
          <p:cNvSpPr/>
          <p:nvPr/>
        </p:nvSpPr>
        <p:spPr>
          <a:xfrm>
            <a:off x="5839358" y="432694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SK텔레콤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5473598" y="4682642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>
            <a:off x="5537606" y="4695901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2" name="Text 160"/>
          <p:cNvSpPr/>
          <p:nvPr/>
        </p:nvSpPr>
        <p:spPr>
          <a:xfrm>
            <a:off x="5537606" y="469590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5839358" y="4682642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LG화학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7130491" y="148132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7194499" y="1494587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Text 164"/>
          <p:cNvSpPr/>
          <p:nvPr/>
        </p:nvSpPr>
        <p:spPr>
          <a:xfrm>
            <a:off x="7194499" y="149458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7496251" y="148132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우리금융지주</a:t>
            </a:r>
            <a:endParaRPr lang="en-US" sz="1050" dirty="0"/>
          </a:p>
        </p:txBody>
      </p:sp>
      <p:sp>
        <p:nvSpPr>
          <p:cNvPr id="168" name="Shape 166"/>
          <p:cNvSpPr/>
          <p:nvPr/>
        </p:nvSpPr>
        <p:spPr>
          <a:xfrm>
            <a:off x="7130491" y="1837030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>
            <a:off x="7194499" y="185028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0" name="Text 168"/>
          <p:cNvSpPr/>
          <p:nvPr/>
        </p:nvSpPr>
        <p:spPr>
          <a:xfrm>
            <a:off x="7194499" y="1850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50" dirty="0"/>
          </a:p>
        </p:txBody>
      </p:sp>
      <p:sp>
        <p:nvSpPr>
          <p:cNvPr id="171" name="Text 169"/>
          <p:cNvSpPr/>
          <p:nvPr/>
        </p:nvSpPr>
        <p:spPr>
          <a:xfrm>
            <a:off x="7496251" y="1837030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현대오토에버</a:t>
            </a:r>
            <a:endParaRPr lang="en-US" sz="1050" dirty="0"/>
          </a:p>
        </p:txBody>
      </p:sp>
      <p:sp>
        <p:nvSpPr>
          <p:cNvPr id="172" name="Shape 170"/>
          <p:cNvSpPr/>
          <p:nvPr/>
        </p:nvSpPr>
        <p:spPr>
          <a:xfrm>
            <a:off x="7130491" y="219273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7194499" y="220599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4" name="Text 172"/>
          <p:cNvSpPr/>
          <p:nvPr/>
        </p:nvSpPr>
        <p:spPr>
          <a:xfrm>
            <a:off x="7194499" y="220599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50" dirty="0"/>
          </a:p>
        </p:txBody>
      </p:sp>
      <p:sp>
        <p:nvSpPr>
          <p:cNvPr id="175" name="Text 173"/>
          <p:cNvSpPr/>
          <p:nvPr/>
        </p:nvSpPr>
        <p:spPr>
          <a:xfrm>
            <a:off x="7496251" y="219273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HD현대</a:t>
            </a:r>
            <a:endParaRPr lang="en-US" sz="1050" dirty="0"/>
          </a:p>
        </p:txBody>
      </p:sp>
      <p:sp>
        <p:nvSpPr>
          <p:cNvPr id="176" name="Shape 174"/>
          <p:cNvSpPr/>
          <p:nvPr/>
        </p:nvSpPr>
        <p:spPr>
          <a:xfrm>
            <a:off x="7130491" y="2548433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7194499" y="2561692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8" name="Text 176"/>
          <p:cNvSpPr/>
          <p:nvPr/>
        </p:nvSpPr>
        <p:spPr>
          <a:xfrm>
            <a:off x="7194499" y="25616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50" dirty="0"/>
          </a:p>
        </p:txBody>
      </p:sp>
      <p:sp>
        <p:nvSpPr>
          <p:cNvPr id="179" name="Text 177"/>
          <p:cNvSpPr/>
          <p:nvPr/>
        </p:nvSpPr>
        <p:spPr>
          <a:xfrm>
            <a:off x="7496251" y="2548433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현대로템</a:t>
            </a:r>
            <a:endParaRPr lang="en-US" sz="1050" dirty="0"/>
          </a:p>
        </p:txBody>
      </p:sp>
      <p:sp>
        <p:nvSpPr>
          <p:cNvPr id="180" name="Shape 178"/>
          <p:cNvSpPr/>
          <p:nvPr/>
        </p:nvSpPr>
        <p:spPr>
          <a:xfrm>
            <a:off x="7130491" y="2904134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7194499" y="2917393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2" name="Text 180"/>
          <p:cNvSpPr/>
          <p:nvPr/>
        </p:nvSpPr>
        <p:spPr>
          <a:xfrm>
            <a:off x="7194499" y="291739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50" dirty="0"/>
          </a:p>
        </p:txBody>
      </p:sp>
      <p:sp>
        <p:nvSpPr>
          <p:cNvPr id="183" name="Text 181"/>
          <p:cNvSpPr/>
          <p:nvPr/>
        </p:nvSpPr>
        <p:spPr>
          <a:xfrm>
            <a:off x="7496251" y="2904134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TIGER 미국S&amp;P500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7130491" y="3259836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7194499" y="3273095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6" name="Text 184"/>
          <p:cNvSpPr/>
          <p:nvPr/>
        </p:nvSpPr>
        <p:spPr>
          <a:xfrm>
            <a:off x="7194499" y="327309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50" dirty="0"/>
          </a:p>
        </p:txBody>
      </p:sp>
      <p:sp>
        <p:nvSpPr>
          <p:cNvPr id="187" name="Text 185"/>
          <p:cNvSpPr/>
          <p:nvPr/>
        </p:nvSpPr>
        <p:spPr>
          <a:xfrm>
            <a:off x="7496251" y="3259836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KT&amp;G</a:t>
            </a:r>
            <a:endParaRPr lang="en-US" sz="1050" dirty="0"/>
          </a:p>
        </p:txBody>
      </p:sp>
      <p:sp>
        <p:nvSpPr>
          <p:cNvPr id="188" name="Shape 186"/>
          <p:cNvSpPr/>
          <p:nvPr/>
        </p:nvSpPr>
        <p:spPr>
          <a:xfrm>
            <a:off x="7130491" y="3615538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7194499" y="3628796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0" name="Text 188"/>
          <p:cNvSpPr/>
          <p:nvPr/>
        </p:nvSpPr>
        <p:spPr>
          <a:xfrm>
            <a:off x="7194499" y="36287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50" dirty="0"/>
          </a:p>
        </p:txBody>
      </p:sp>
      <p:sp>
        <p:nvSpPr>
          <p:cNvPr id="191" name="Text 189"/>
          <p:cNvSpPr/>
          <p:nvPr/>
        </p:nvSpPr>
        <p:spPr>
          <a:xfrm>
            <a:off x="7496251" y="3615538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삼성SDS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7130491" y="3971239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7194499" y="3984498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4" name="Text 192"/>
          <p:cNvSpPr/>
          <p:nvPr/>
        </p:nvSpPr>
        <p:spPr>
          <a:xfrm>
            <a:off x="7194499" y="398449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50" dirty="0"/>
          </a:p>
        </p:txBody>
      </p:sp>
      <p:sp>
        <p:nvSpPr>
          <p:cNvPr id="195" name="Text 193"/>
          <p:cNvSpPr/>
          <p:nvPr/>
        </p:nvSpPr>
        <p:spPr>
          <a:xfrm>
            <a:off x="7496251" y="3971239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SK이노베이션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7130491" y="4326941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>
            <a:off x="7194499" y="4340200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8" name="Text 196"/>
          <p:cNvSpPr/>
          <p:nvPr/>
        </p:nvSpPr>
        <p:spPr>
          <a:xfrm>
            <a:off x="7194499" y="43402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7496251" y="4326941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HMM</a:t>
            </a:r>
            <a:endParaRPr lang="en-US" sz="1050" dirty="0"/>
          </a:p>
        </p:txBody>
      </p:sp>
      <p:sp>
        <p:nvSpPr>
          <p:cNvPr id="200" name="Shape 198"/>
          <p:cNvSpPr/>
          <p:nvPr/>
        </p:nvSpPr>
        <p:spPr>
          <a:xfrm>
            <a:off x="7130491" y="4682642"/>
            <a:ext cx="1510589" cy="273406"/>
          </a:xfrm>
          <a:prstGeom prst="roundRect">
            <a:avLst>
              <a:gd name="adj" fmla="val 13378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7194499" y="4695901"/>
            <a:ext cx="246888" cy="246888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00"/>
          <p:cNvSpPr/>
          <p:nvPr/>
        </p:nvSpPr>
        <p:spPr>
          <a:xfrm>
            <a:off x="7194499" y="469590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50" dirty="0"/>
          </a:p>
        </p:txBody>
      </p:sp>
      <p:sp>
        <p:nvSpPr>
          <p:cNvPr id="203" name="Text 201"/>
          <p:cNvSpPr/>
          <p:nvPr/>
        </p:nvSpPr>
        <p:spPr>
          <a:xfrm>
            <a:off x="7496251" y="4682642"/>
            <a:ext cx="1089965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</a:t>
            </a:r>
            <a:endParaRPr lang="en-US" sz="1050" dirty="0"/>
          </a:p>
        </p:txBody>
      </p:sp>
      <p:sp>
        <p:nvSpPr>
          <p:cNvPr id="204" name="Text 202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&amp; 기간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84248"/>
            <a:ext cx="36576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04088" y="2185416"/>
            <a:ext cx="365760" cy="36576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26771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Yahoo Finance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16152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API를 통한 가격 데이터 수집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916936"/>
            <a:ext cx="36576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04088" y="3118104"/>
            <a:ext cx="365760" cy="36576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2004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6152" y="30358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수정주가 (Adjusted)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16152" y="3328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배당·액면분할 반영 가격 적용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849624"/>
            <a:ext cx="36576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04088" y="4050792"/>
            <a:ext cx="365760" cy="36576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13308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6152" y="39684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 Top 50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16152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시가총액 상위 50개 종목 유니버스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262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기간 설정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526280" y="1984248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45736" y="2231136"/>
            <a:ext cx="274320" cy="274320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4745736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166360" y="209397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Period   </a:t>
            </a: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 (9년)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166360" y="2404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2010.01.01 – 2018.12.31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526280" y="2916936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745736" y="3163824"/>
            <a:ext cx="274320" cy="274320"/>
          </a:xfrm>
          <a:prstGeom prst="ellipse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745736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166360" y="30266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Period   </a:t>
            </a: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Pair 선정 (3년)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166360" y="3337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2019.01.01 – 2021.12.31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526280" y="3849624"/>
            <a:ext cx="4114800" cy="768096"/>
          </a:xfrm>
          <a:prstGeom prst="roundRect">
            <a:avLst>
              <a:gd name="adj" fmla="val 9524"/>
            </a:avLst>
          </a:prstGeom>
          <a:solidFill>
            <a:srgbClr val="0E1A33"/>
          </a:solidFill>
          <a:ln w="12700">
            <a:solidFill>
              <a:srgbClr val="16294F"/>
            </a:solidFill>
            <a:prstDash val="solid"/>
          </a:ln>
          <a:effectLst>
            <a:outerShdw blurRad="88900" dist="38100" dir="5400000" algn="bl" rotWithShape="0">
              <a:srgbClr val="0E1A33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4745736" y="4096512"/>
            <a:ext cx="274320" cy="27432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4745736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166360" y="39593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Period   </a:t>
            </a:r>
            <a:r>
              <a:rPr lang="en-US" sz="1100" dirty="0">
                <a:solidFill>
                  <a:srgbClr val="9FE6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검증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166360" y="4270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2022.01.01 – 데이터 최근일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PERIOD · PAIR SELECTION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Pair 선정 · 핵심 지표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8973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04088" y="1792224"/>
            <a:ext cx="457200" cy="45720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40864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596896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816352"/>
            <a:ext cx="153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종목 일간 수익률의 동조성 측정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83180" y="1572768"/>
            <a:ext cx="18973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784348" y="1792224"/>
            <a:ext cx="457200" cy="45720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076" y="19019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66060" y="2340864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Cointegration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766060" y="2596896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공적분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766060" y="2816352"/>
            <a:ext cx="153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균형 관계 · hedge ratio β 추정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63440" y="1572768"/>
            <a:ext cx="18973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864608" y="1792224"/>
            <a:ext cx="457200" cy="45720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190195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340864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Half-life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846320" y="2596896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반감기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846320" y="2816352"/>
            <a:ext cx="153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Spread가 절반으로 회귀하는 기간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43700" y="1572768"/>
            <a:ext cx="18973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944868" y="1792224"/>
            <a:ext cx="457200" cy="45720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190195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26580" y="2340864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Method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926580" y="2596896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926580" y="2816352"/>
            <a:ext cx="153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가격 차이의 제곱합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3456432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3"/>
          <p:cNvSpPr/>
          <p:nvPr/>
        </p:nvSpPr>
        <p:spPr>
          <a:xfrm>
            <a:off x="77724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기준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77240" y="391363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공적분 p-value &lt; 0.05, 반감기 &lt; 60일인 '통계적으로 유효한' </a:t>
            </a:r>
            <a:r>
              <a:rPr lang="en-US" sz="12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쌍만</a:t>
            </a: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공적분 순위와 거리 순위를 합산하여 최종 점수(Score)로 환산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종목이 여러 쌍에 중복 포함되지 않도록 로직 적용 → </a:t>
            </a:r>
            <a:r>
              <a:rPr lang="en-US" sz="12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</a:t>
            </a:r>
            <a:r>
              <a:rPr lang="ko-KR" alt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우수한</a:t>
            </a: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최종 Top 3 </a:t>
            </a:r>
            <a:r>
              <a:rPr lang="en-US" sz="12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페어</a:t>
            </a: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</a:t>
            </a: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낮을수록 좋음</a:t>
            </a:r>
            <a:r>
              <a:rPr lang="en-US" altLang="ko-KR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· SELECTED PAIRS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선정된 Top 3 Pair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8138160" cy="2423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 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 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Corr.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Coint p-val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Half-life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Distance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Score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Beta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KB금융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하나금융지주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LS ELECTRIC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LG전자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공적분 p-value · 거리 · 반감기를 종합해 Score로 환산, 종목 중복 없이 선정된 3개 페어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PERIOD · STATISTICS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Pair의 Spread &amp; Z-score 요약 통계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46315" y="1490472"/>
            <a:ext cx="4851370" cy="3374136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043" y="1600200"/>
            <a:ext cx="4631914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PERIOD · PLOTS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Normalized Price · Spread · Z-score</a:t>
            </a:r>
            <a:endParaRPr lang="en-US" sz="3000" dirty="0"/>
          </a:p>
        </p:txBody>
      </p:sp>
      <p:pic>
        <p:nvPicPr>
          <p:cNvPr id="4" name="Image 0" descr="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2772216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27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Normalized Price</a:t>
            </a:r>
            <a:endParaRPr lang="en-US" sz="1200" dirty="0"/>
          </a:p>
        </p:txBody>
      </p:sp>
      <p:pic>
        <p:nvPicPr>
          <p:cNvPr id="6" name="Image 1" descr="media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058" y="1572768"/>
            <a:ext cx="230605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2058" y="4617720"/>
            <a:ext cx="2306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Spread Plot</a:t>
            </a:r>
            <a:endParaRPr lang="en-US" sz="1200" dirty="0"/>
          </a:p>
        </p:txBody>
      </p:sp>
      <p:pic>
        <p:nvPicPr>
          <p:cNvPr id="8" name="Image 2" descr="media/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030" y="1572768"/>
            <a:ext cx="2306050" cy="2971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35030" y="4617720"/>
            <a:ext cx="2306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Z-score Plot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818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성과지표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누적수익률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 수익률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 변동성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Sharpe Ratio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MDD (최대낙폭)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 Rate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Profit Factor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9307" y="1581912"/>
            <a:ext cx="2362987" cy="3191256"/>
          </a:xfrm>
          <a:prstGeom prst="roundRect">
            <a:avLst>
              <a:gd name="adj" fmla="val 3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media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035" y="1691640"/>
            <a:ext cx="2143531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PERIOD · 2019.01 – 2021.12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229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Trading Rule 설계 &amp; 성과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규칙 파라미터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21208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39596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57884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ENTRY_K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6172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76272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EXIT_K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12848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2948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031236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STOP_LOSS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9524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49624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67912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MAX_HOLD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86200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86300" y="1847088"/>
            <a:ext cx="70866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04588" y="192024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22876" y="2121408"/>
            <a:ext cx="6355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2578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지표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2871216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39496" y="3005816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12.01%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57784" y="3392790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누적수익률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82368" y="2871216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218944" y="3005816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3.93%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237232" y="3392790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 수익률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61816" y="2871216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898392" y="3005816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916680" y="3392790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 지수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858768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9496" y="3993368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-15.02%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557784" y="4380342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최대낙폭(MDD)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82368" y="3858768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218944" y="3993368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55.56%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2237232" y="4380342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승률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61816" y="3858768"/>
            <a:ext cx="153314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898392" y="3993368"/>
            <a:ext cx="1459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36회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3916680" y="4380342"/>
            <a:ext cx="142341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거래횟수</a:t>
            </a:r>
            <a:endParaRPr lang="en-US" sz="1050" dirty="0"/>
          </a:p>
        </p:txBody>
      </p:sp>
      <p:pic>
        <p:nvPicPr>
          <p:cNvPr id="42" name="Image 0" descr="media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020" y="1627632"/>
            <a:ext cx="2434041" cy="292608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71500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Trading Signal Plot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PERIOD · INTERPRETATION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4259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지표별 평가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19202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· 연율화 수익률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9D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괜찮은 수익률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7512" y="24871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 지수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24871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14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대비 비효율적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67512" y="305409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최대낙폭(MDD)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30540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14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21024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7512" y="362102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362102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나쁘지 않음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87952"/>
            <a:ext cx="3977640" cy="475488"/>
          </a:xfrm>
          <a:prstGeom prst="roundRect">
            <a:avLst>
              <a:gd name="adj" fmla="val 9615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" y="41879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거래횟수 (36회)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0" y="41879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F9D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통계적으로 전략 효율성 입증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세 개 pair의 합산 수익률 기준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572768"/>
            <a:ext cx="3794760" cy="1417320"/>
          </a:xfrm>
          <a:prstGeom prst="roundRect">
            <a:avLst>
              <a:gd name="adj" fmla="val 3871"/>
            </a:avLst>
          </a:prstGeom>
          <a:solidFill>
            <a:srgbClr val="E9F7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이유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048256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 threshold를 너무 타이트하게 설정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손절선(STOP_LOSS)이 느슨함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hold 기간을 길게 설정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172968"/>
            <a:ext cx="3794760" cy="1417320"/>
          </a:xfrm>
          <a:prstGeom prst="roundRect">
            <a:avLst>
              <a:gd name="adj" fmla="val 3871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74920" y="3319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거시경제적 이유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3648456"/>
            <a:ext cx="3337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미·중 무역전쟁과 코로나19로 회귀 속도 자체는 느렸으나, 유동성 랠리에 따른 대세 상승장이 형성됨. 낙폭은 상당히 깊었지만 수익률이 나쁘지 </a:t>
            </a:r>
            <a:r>
              <a:rPr lang="en-US" sz="1200" dirty="0" err="1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않게</a:t>
            </a:r>
            <a:r>
              <a:rPr lang="en-US" sz="120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이유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PERIOD · 2022.01 – 현재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환경 &amp; 공매도 가정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규칙 파라미터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21208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83664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901952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ENTRY_K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64408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82696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EXIT_K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0984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45152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STOP_LOSS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81728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25896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44184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MAX_HOLD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62472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06640" y="17739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24928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43216" y="2048256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2505456"/>
            <a:ext cx="4572000" cy="676656"/>
          </a:xfrm>
          <a:prstGeom prst="roundRect">
            <a:avLst>
              <a:gd name="adj" fmla="val 6757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4088" y="258775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공매도 가능 여부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" y="281635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코스피 상위 50개 대형주이므로 차입 및 공매도가 원활히 가능하다고 가정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282696"/>
            <a:ext cx="4572000" cy="676656"/>
          </a:xfrm>
          <a:prstGeom prst="roundRect">
            <a:avLst>
              <a:gd name="adj" fmla="val 6757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4088" y="336499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거래비용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" y="359359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편도 0.15% + 청산 편도 0.15% → 1회 매매세트(Round-trip)당 총 0.30%를 자산가치에서 즉시 차감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059936"/>
            <a:ext cx="4572000" cy="676656"/>
          </a:xfrm>
          <a:prstGeom prst="roundRect">
            <a:avLst>
              <a:gd name="adj" fmla="val 6757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04088" y="4142232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슬리피지 · 유동성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" y="43708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대형주로 호가가 충분히 두텁다고 보아 슬리피지 0%, 유동성 제약 없음으로 가정</a:t>
            </a:r>
            <a:endParaRPr lang="en-US" sz="1050" dirty="0"/>
          </a:p>
        </p:txBody>
      </p:sp>
      <p:pic>
        <p:nvPicPr>
          <p:cNvPr id="32" name="Image 0" descr="media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825496"/>
            <a:ext cx="3200400" cy="158522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440680" y="448387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Period Cumulative Return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PERIOD · PERFORMANCE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Out-of-sample 성과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9496" y="174650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-48.29%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7784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누적수익률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75688" y="160020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12264" y="174650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-14.38%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3055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 수익률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48456" y="160020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85032" y="174650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17.35%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03320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 변동성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9496" y="280720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7784" y="32278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 지수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75688" y="266090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112264" y="280720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-51.58%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30552" y="32278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최대낙폭(MDD)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48456" y="266090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85032" y="280720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703320" y="32278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프로핏 팩터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72160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9496" y="3867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40.00%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57784" y="42885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75688" y="372160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112264" y="3867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40회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130552" y="42885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거래횟수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48456" y="372160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85032" y="38679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1070일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3703320" y="42885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분석일수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Pair 성과 (Test)</a:t>
            </a:r>
            <a:endParaRPr lang="en-US" sz="1250" dirty="0"/>
          </a:p>
        </p:txBody>
      </p:sp>
      <p:pic>
        <p:nvPicPr>
          <p:cNvPr id="32" name="Image 0" descr="media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874520"/>
            <a:ext cx="3200400" cy="195850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440680" y="394275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LG-KB금융 +62.57% · 두산-하나금융지주 -50.26% · LS ELECTRIC-LG전자 -45.99%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PERIOD · INTERPRETATION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 — 양극화 장세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E9F7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이유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베타(β)를 다이내믹하게 조정하지 못함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Training 기간에 선정한 과거 pair를 그대로 사용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93776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거시경제적 이유 — 종목별 디커플링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202996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ELECTRIC↔LG전자: </a:t>
            </a:r>
            <a:r>
              <a:rPr lang="en-US" sz="10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LS는 AI 데이터센터 전력망 수혜로 폭등, LG전자는 가전 소비 </a:t>
            </a:r>
            <a:r>
              <a:rPr lang="en-US" sz="1050" dirty="0" err="1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둔화로</a:t>
            </a:r>
            <a:r>
              <a:rPr lang="en-US" sz="10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</a:t>
            </a:r>
            <a:endParaRPr lang="en-US" sz="1050" dirty="0">
              <a:solidFill>
                <a:srgbClr val="DCE6F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두산↔하나금융지주</a:t>
            </a: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en-US" sz="10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하나금융은 '기업 밸류업 정책' 수혜로 폭등, 중공업 중심 두산은 소외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163824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7240" y="3575304"/>
            <a:ext cx="548640" cy="54864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8503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33467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08760" y="3657600"/>
            <a:ext cx="6858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동조화 장세가 강했지만(같이 오르내림), 최근 장세는 특정 공급망을 독점한 '승자' 기업 하나가 시장의 모든 유동성을 흡수하고 나머지 기업들은 철저히 소외되는 양극화 현상을 보임. 페어의 장기 균형 관계가 깨지면서 mean-reversion 전략이 작동하지 않음.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PERIOD · BENCHMARK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Benchmark 비교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4160520" cy="21579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연율화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변동성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샤프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MDD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 Strategy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14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-48.29%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14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-14.41%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14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14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14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-51.58%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 Index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161.46%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24.24%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-27.89%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E1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Equal Weight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242.01%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-33.99%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36576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136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 2종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42062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 Buy-and-Hold: </a:t>
            </a:r>
            <a:r>
              <a:rPr lang="en-US" sz="11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시작 시 코스피 지수(ETF)를 매수해 끝까지 보유하는 가장 </a:t>
            </a:r>
            <a:r>
              <a:rPr lang="en-US" sz="11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</a:t>
            </a:r>
            <a:r>
              <a:rPr lang="en-US" sz="11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1100" dirty="0">
              <a:solidFill>
                <a:srgbClr val="1B2545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Equal-Weight Portfolio: </a:t>
            </a:r>
            <a:r>
              <a:rPr lang="en-US" sz="110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50개 종목에 1/50씩 동일가중으로 담아 그대로 보유하는 포트폴리오</a:t>
            </a:r>
            <a:endParaRPr lang="en-US" sz="1100" dirty="0"/>
          </a:p>
        </p:txBody>
      </p:sp>
      <p:pic>
        <p:nvPicPr>
          <p:cNvPr id="7" name="Image 0" descr="media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64208"/>
            <a:ext cx="3611880" cy="25747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RE-CALIBRATION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Parameter 조정 (Tuned)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조정된 파라미터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21208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83664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901952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ENTRY_K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64408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82696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EXIT_K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0984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52544" y="1901952"/>
            <a:ext cx="91440" cy="9144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45152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STOP_LOSS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81728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33288" y="1901952"/>
            <a:ext cx="91440" cy="9144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25896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044184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MAX_HOLD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62472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14032" y="1901952"/>
            <a:ext cx="91440" cy="91440"/>
          </a:xfrm>
          <a:prstGeom prst="ellipse">
            <a:avLst/>
          </a:prstGeom>
          <a:solidFill>
            <a:srgbClr val="00B3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06640" y="184708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24928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43216" y="212140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2670048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7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83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 내용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3072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 threshold를 더 여유롭게 (0.0 → 0.5)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loss 0.05로 보수적, Max hold 20으로 단축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675888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407822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6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횟수가 늘며 오히려 거래비용 때문에 손실이 확대됨. 결국 pair를 교체하거나 베타를 조정하지 않는 한, 파라미터만으로 손실을 억제하기 어렵다는 결론.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7492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Tuned 성과  (2022.01.04 – 2026.05.22)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2980944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111496" y="3115544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-51.21%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29784" y="3502518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누적수익률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12408" y="2980944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348984" y="3115544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-15.55%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7272" y="3502518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연율화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49896" y="2980944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586472" y="3115544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04760" y="3502518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 지수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74920" y="3968496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111496" y="4103096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1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-56.95%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29784" y="4490070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최대낙폭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12408" y="3968496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348984" y="4103096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39.83%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67272" y="4490070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승률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549896" y="3968496"/>
            <a:ext cx="109118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8C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586472" y="4103096"/>
            <a:ext cx="101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118회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04760" y="4490070"/>
            <a:ext cx="981456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거래횟수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41248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A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0"/>
          </a:xfrm>
          <a:prstGeom prst="line">
            <a:avLst/>
          </a:prstGeom>
          <a:noFill/>
          <a:ln w="12700">
            <a:solidFill>
              <a:srgbClr val="00B3A4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76200" cy="821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" y="4791352"/>
            <a:ext cx="76200" cy="801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2400" y="4871478"/>
            <a:ext cx="76200" cy="7715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" y="4948634"/>
            <a:ext cx="76200" cy="733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4800" y="5021960"/>
            <a:ext cx="76200" cy="6869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000" y="5090655"/>
            <a:ext cx="76200" cy="633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5153980"/>
            <a:ext cx="76200" cy="5729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3400" y="5211271"/>
            <a:ext cx="76200" cy="5066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9600" y="5261940"/>
            <a:ext cx="76200" cy="4354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5305485"/>
            <a:ext cx="76200" cy="3600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62000" y="5341494"/>
            <a:ext cx="76200" cy="2815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8200" y="5369647"/>
            <a:ext cx="76200" cy="2007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389719"/>
            <a:ext cx="76200" cy="1186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90600" y="5401584"/>
            <a:ext cx="76200" cy="362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66800" y="540521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43000" y="540066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219200" y="538810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295400" y="536778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371600" y="534003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447800" y="530528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4000" y="526401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600200" y="521679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676400" y="516426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752600" y="510708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828800" y="504598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905000" y="498173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981200" y="491511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057400" y="484692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133600" y="477798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209800" y="470911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286000" y="464110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362200" y="457473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438400" y="451075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514600" y="444988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590800" y="439279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667000" y="4340108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743200" y="429237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819400" y="425008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895600" y="421367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971800" y="418348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048000" y="415980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124200" y="414282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0" y="413265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76600" y="4129337"/>
            <a:ext cx="76200" cy="349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3352800" y="4132827"/>
            <a:ext cx="76200" cy="1017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3429000" y="4143001"/>
            <a:ext cx="76200" cy="1666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505200" y="4159663"/>
            <a:ext cx="76200" cy="2287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581400" y="4182540"/>
            <a:ext cx="76200" cy="2875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657600" y="4211292"/>
            <a:ext cx="76200" cy="3422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733800" y="4245515"/>
            <a:ext cx="76200" cy="3923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810000" y="4284747"/>
            <a:ext cx="76200" cy="4372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886200" y="4328472"/>
            <a:ext cx="76200" cy="47657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962400" y="4376129"/>
            <a:ext cx="76200" cy="5098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4038600" y="4427117"/>
            <a:ext cx="76200" cy="5368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114800" y="4480805"/>
            <a:ext cx="76200" cy="5573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191000" y="4536536"/>
            <a:ext cx="76200" cy="5710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267200" y="4593639"/>
            <a:ext cx="76200" cy="5779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4343400" y="4651433"/>
            <a:ext cx="76200" cy="5780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419600" y="4709239"/>
            <a:ext cx="76200" cy="5714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495800" y="4766383"/>
            <a:ext cx="76200" cy="558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572000" y="4822209"/>
            <a:ext cx="76200" cy="5387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4648200" y="4876081"/>
            <a:ext cx="76200" cy="5131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4724400" y="4927397"/>
            <a:ext cx="76200" cy="4819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800600" y="4975588"/>
            <a:ext cx="76200" cy="4454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876800" y="5020128"/>
            <a:ext cx="76200" cy="4041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953000" y="5060540"/>
            <a:ext cx="76200" cy="3586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5029200" y="5096401"/>
            <a:ext cx="76200" cy="3094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5105400" y="5127344"/>
            <a:ext cx="76200" cy="2572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5181600" y="5153065"/>
            <a:ext cx="76200" cy="2025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5257800" y="5173321"/>
            <a:ext cx="76200" cy="1461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5334000" y="5187937"/>
            <a:ext cx="76200" cy="886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5410200" y="5196806"/>
            <a:ext cx="76200" cy="3081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5486400" y="519988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5562600" y="519720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638800" y="518886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5715000" y="517500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5791200" y="515586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5867400" y="5131713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5943600" y="510288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019800" y="506977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6096000" y="503280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6172200" y="499244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6248400" y="494920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6324600" y="490362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6400800" y="485623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6477000" y="480763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6553200" y="475837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6629400" y="4709059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6705600" y="4660247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6781800" y="461250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6858000" y="456637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6934200" y="452238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7010400" y="448101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7086600" y="4442720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7162800" y="4407921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7239000" y="437698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>
            <a:off x="7315200" y="435023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>
            <a:off x="7391400" y="4327935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7467600" y="4310306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7543800" y="4297504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7620000" y="4289632"/>
            <a:ext cx="76200" cy="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7696200" y="4286732"/>
            <a:ext cx="76200" cy="2058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7772400" y="4288791"/>
            <a:ext cx="76200" cy="694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7848600" y="4295735"/>
            <a:ext cx="76200" cy="1170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7924800" y="4307438"/>
            <a:ext cx="76200" cy="1627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8001000" y="4323717"/>
            <a:ext cx="76200" cy="20623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8077200" y="4344340"/>
            <a:ext cx="76200" cy="2468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8153400" y="4369025"/>
            <a:ext cx="76200" cy="2842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8229600" y="4397446"/>
            <a:ext cx="76200" cy="317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8305800" y="4429239"/>
            <a:ext cx="76200" cy="3476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8382000" y="4464001"/>
            <a:ext cx="76200" cy="37299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8458200" y="4501300"/>
            <a:ext cx="76200" cy="39380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8534400" y="4540680"/>
            <a:ext cx="76200" cy="4098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8610600" y="4581662"/>
            <a:ext cx="76200" cy="42094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8686800" y="4623756"/>
            <a:ext cx="76200" cy="4270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8763000" y="4666462"/>
            <a:ext cx="76200" cy="42815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8839200" y="4709277"/>
            <a:ext cx="76200" cy="4242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8915400" y="4751702"/>
            <a:ext cx="76200" cy="41546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>
            <a:off x="8991600" y="4793249"/>
            <a:ext cx="76200" cy="4019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9067800" y="4833441"/>
            <a:ext cx="76200" cy="38382"/>
          </a:xfrm>
          <a:prstGeom prst="line">
            <a:avLst/>
          </a:prstGeom>
          <a:noFill/>
          <a:ln w="20320">
            <a:solidFill>
              <a:srgbClr val="00B3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502920" y="7498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한계점 &amp; 개선 방향</a:t>
            </a:r>
            <a:endParaRPr lang="en-US" sz="3000" dirty="0"/>
          </a:p>
        </p:txBody>
      </p:sp>
      <p:sp>
        <p:nvSpPr>
          <p:cNvPr id="126" name="Shape 124"/>
          <p:cNvSpPr/>
          <p:nvPr/>
        </p:nvSpPr>
        <p:spPr>
          <a:xfrm>
            <a:off x="502920" y="1645920"/>
            <a:ext cx="3886200" cy="2743200"/>
          </a:xfrm>
          <a:prstGeom prst="roundRect">
            <a:avLst>
              <a:gd name="adj" fmla="val 2333"/>
            </a:avLst>
          </a:prstGeom>
          <a:solidFill>
            <a:srgbClr val="1629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>
            <a:off x="758952" y="1901952"/>
            <a:ext cx="475488" cy="475488"/>
          </a:xfrm>
          <a:prstGeom prst="ellipse">
            <a:avLst/>
          </a:prstGeom>
          <a:solidFill>
            <a:srgbClr val="E0A2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02536"/>
            <a:ext cx="274320" cy="274320"/>
          </a:xfrm>
          <a:prstGeom prst="rect">
            <a:avLst/>
          </a:prstGeom>
        </p:spPr>
      </p:pic>
      <p:sp>
        <p:nvSpPr>
          <p:cNvPr id="129" name="Text 126"/>
          <p:cNvSpPr/>
          <p:nvPr/>
        </p:nvSpPr>
        <p:spPr>
          <a:xfrm>
            <a:off x="1371600" y="19385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한계점</a:t>
            </a:r>
            <a:endParaRPr lang="en-US" sz="1700" dirty="0"/>
          </a:p>
        </p:txBody>
      </p:sp>
      <p:sp>
        <p:nvSpPr>
          <p:cNvPr id="130" name="Text 127"/>
          <p:cNvSpPr/>
          <p:nvPr/>
        </p:nvSpPr>
        <p:spPr>
          <a:xfrm>
            <a:off x="795528" y="2420153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6E0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공매도가 원활히 가능하다고 가정 — 현실에서는 불가능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6E0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슬리피지 미반영, 유동성 제약도 없다고 가정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6E0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무위험 이자율 또한 0으로 가정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6E0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생존 편향(survivorship bias) 발생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6E0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고정된 헷지(β) 비율 사용</a:t>
            </a:r>
            <a:endParaRPr lang="en-US" sz="1300" dirty="0"/>
          </a:p>
        </p:txBody>
      </p:sp>
      <p:sp>
        <p:nvSpPr>
          <p:cNvPr id="131" name="Shape 128"/>
          <p:cNvSpPr/>
          <p:nvPr/>
        </p:nvSpPr>
        <p:spPr>
          <a:xfrm>
            <a:off x="4754880" y="1645920"/>
            <a:ext cx="3886200" cy="2743200"/>
          </a:xfrm>
          <a:prstGeom prst="roundRect">
            <a:avLst>
              <a:gd name="adj" fmla="val 2333"/>
            </a:avLst>
          </a:prstGeom>
          <a:solidFill>
            <a:srgbClr val="0C83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29"/>
          <p:cNvSpPr/>
          <p:nvPr/>
        </p:nvSpPr>
        <p:spPr>
          <a:xfrm>
            <a:off x="5010912" y="190195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2002536"/>
            <a:ext cx="274320" cy="274320"/>
          </a:xfrm>
          <a:prstGeom prst="rect">
            <a:avLst/>
          </a:prstGeom>
        </p:spPr>
      </p:pic>
      <p:sp>
        <p:nvSpPr>
          <p:cNvPr id="134" name="Text 130"/>
          <p:cNvSpPr/>
          <p:nvPr/>
        </p:nvSpPr>
        <p:spPr>
          <a:xfrm>
            <a:off x="5623560" y="19385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700" dirty="0"/>
          </a:p>
        </p:txBody>
      </p:sp>
      <p:sp>
        <p:nvSpPr>
          <p:cNvPr id="135" name="Text 131"/>
          <p:cNvSpPr/>
          <p:nvPr/>
        </p:nvSpPr>
        <p:spPr>
          <a:xfrm>
            <a:off x="5047488" y="251460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현실에 더 부합한 설정 추가 — 공매도 제약, 슬리피지, 유동성, 무위험 이자율 </a:t>
            </a:r>
            <a:r>
              <a:rPr lang="en-US" sz="1200" dirty="0" err="1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</a:t>
            </a:r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 err="1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</a:t>
            </a: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(β)를 더 다이내믹하게 조정하도록 모델 설계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FontTx/>
              <a:buChar char="•"/>
            </a:pPr>
            <a:r>
              <a:rPr lang="ko-KR" alt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페어</a:t>
            </a:r>
            <a:r>
              <a:rPr lang="en-US" altLang="ko-KR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(pair)</a:t>
            </a:r>
            <a:r>
              <a:rPr lang="ko-KR" alt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를 선정</a:t>
            </a:r>
            <a:r>
              <a:rPr lang="en-US" altLang="ko-KR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그리고 </a:t>
            </a:r>
            <a:r>
              <a:rPr lang="en-US" altLang="ko-KR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trading rule</a:t>
            </a:r>
            <a:r>
              <a:rPr lang="ko-KR" altLang="en-US" sz="120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을 설정 하는데 </a:t>
            </a:r>
            <a:r>
              <a:rPr lang="ko-KR" alt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</a:rPr>
              <a:t>있어서 다양한</a:t>
            </a:r>
            <a:r>
              <a:rPr lang="en-US" altLang="ko-KR" sz="1200" dirty="0"/>
              <a:t> </a:t>
            </a:r>
            <a:r>
              <a:rPr lang="en-US" sz="1200" dirty="0" err="1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</a:t>
            </a: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기법을 추가해 </a:t>
            </a:r>
            <a:r>
              <a:rPr lang="en-US" sz="1200" dirty="0" err="1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분석을</a:t>
            </a: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</a:t>
            </a:r>
            <a:r>
              <a:rPr 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개인적인 아쉬움</a:t>
            </a:r>
            <a:r>
              <a:rPr lang="en-US" altLang="ko-KR" sz="1200" dirty="0">
                <a:solidFill>
                  <a:srgbClr val="EAFB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1213</Words>
  <Application>Microsoft Office PowerPoint</Application>
  <PresentationFormat>화면 슬라이드 쇼(16:9)</PresentationFormat>
  <Paragraphs>420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 Trading Strategy on KOSPI Top 50</dc:title>
  <dc:subject>PptxGenJS Presentation</dc:subject>
  <dc:creator>김수린</dc:creator>
  <cp:lastModifiedBy>수린 김</cp:lastModifiedBy>
  <cp:revision>2</cp:revision>
  <dcterms:created xsi:type="dcterms:W3CDTF">2026-06-09T11:49:58Z</dcterms:created>
  <dcterms:modified xsi:type="dcterms:W3CDTF">2026-06-10T03:50:09Z</dcterms:modified>
</cp:coreProperties>
</file>